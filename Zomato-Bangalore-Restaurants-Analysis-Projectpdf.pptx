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Inter"/>
      <p:regular r:id="rId15"/>
    </p:embeddedFont>
    <p:embeddedFont>
      <p:font typeface="Inter"/>
      <p:regular r:id="rId16"/>
    </p:embeddedFont>
    <p:embeddedFont>
      <p:font typeface="Inter"/>
      <p:regular r:id="rId17"/>
    </p:embeddedFont>
    <p:embeddedFont>
      <p:font typeface="Inter"/>
      <p:regular r:id="rId18"/>
    </p:embeddedFont>
    <p:embeddedFont>
      <p:font typeface="Inter"/>
      <p:regular r:id="rId19"/>
    </p:embeddedFont>
    <p:embeddedFont>
      <p:font typeface="Inter"/>
      <p:regular r:id="rId20"/>
    </p:embeddedFont>
    <p:embeddedFont>
      <p:font typeface="Inter"/>
      <p:regular r:id="rId21"/>
    </p:embeddedFont>
    <p:embeddedFont>
      <p:font typeface="Inter"/>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64037" y="3343275"/>
            <a:ext cx="12902327" cy="1543050"/>
          </a:xfrm>
          <a:prstGeom prst="rect">
            <a:avLst/>
          </a:prstGeom>
          <a:noFill/>
          <a:ln/>
        </p:spPr>
        <p:txBody>
          <a:bodyPr wrap="square" lIns="0" tIns="0" rIns="0" bIns="0" rtlCol="0" anchor="t"/>
          <a:lstStyle/>
          <a:p>
            <a:pPr algn="l" indent="0" marL="0">
              <a:lnSpc>
                <a:spcPts val="6050"/>
              </a:lnSpc>
              <a:buNone/>
            </a:pPr>
            <a:r>
              <a:rPr lang="en-US" sz="4850" b="1" dirty="0">
                <a:solidFill>
                  <a:srgbClr val="000000"/>
                </a:solidFill>
                <a:latin typeface="Inter Bold" pitchFamily="34" charset="0"/>
                <a:ea typeface="Inter Bold" pitchFamily="34" charset="-122"/>
                <a:cs typeface="Inter Bold" pitchFamily="34" charset="-120"/>
              </a:rPr>
              <a:t>Zomato Bangalore Restaurants Analysis Project</a:t>
            </a:r>
            <a:endParaRPr lang="en-US" sz="4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4037" y="1366718"/>
            <a:ext cx="6172200" cy="771525"/>
          </a:xfrm>
          <a:prstGeom prst="rect">
            <a:avLst/>
          </a:prstGeom>
          <a:noFill/>
          <a:ln/>
        </p:spPr>
        <p:txBody>
          <a:bodyPr wrap="none" lIns="0" tIns="0" rIns="0" bIns="0" rtlCol="0" anchor="t"/>
          <a:lstStyle/>
          <a:p>
            <a:pPr algn="l" indent="0" marL="0">
              <a:lnSpc>
                <a:spcPts val="6050"/>
              </a:lnSpc>
              <a:buNone/>
            </a:pPr>
            <a:r>
              <a:rPr lang="en-US" sz="4850" b="1" dirty="0">
                <a:solidFill>
                  <a:srgbClr val="000000"/>
                </a:solidFill>
                <a:latin typeface="Inter Bold" pitchFamily="34" charset="0"/>
                <a:ea typeface="Inter Bold" pitchFamily="34" charset="-122"/>
                <a:cs typeface="Inter Bold" pitchFamily="34" charset="-120"/>
              </a:rPr>
              <a:t>Problem Statement:</a:t>
            </a:r>
            <a:endParaRPr lang="en-US" sz="4850" dirty="0"/>
          </a:p>
        </p:txBody>
      </p:sp>
      <p:sp>
        <p:nvSpPr>
          <p:cNvPr id="3" name="Text 1"/>
          <p:cNvSpPr/>
          <p:nvPr/>
        </p:nvSpPr>
        <p:spPr>
          <a:xfrm>
            <a:off x="864037" y="2631996"/>
            <a:ext cx="12902327" cy="790099"/>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"To perform a comprehensive Exploratory Data Analysis (EDA) on the Zomato Bangalore restaurant dataset to identify the key factors that define the city's food market landscape.</a:t>
            </a:r>
            <a:endParaRPr lang="en-US" sz="1900" dirty="0"/>
          </a:p>
        </p:txBody>
      </p:sp>
      <p:pic>
        <p:nvPicPr>
          <p:cNvPr id="4" name="Image 0" descr="preencoded.png">    </p:cNvPr>
          <p:cNvPicPr>
            <a:picLocks noChangeAspect="1"/>
          </p:cNvPicPr>
          <p:nvPr/>
        </p:nvPicPr>
        <p:blipFill>
          <a:blip r:embed="rId1"/>
          <a:stretch>
            <a:fillRect/>
          </a:stretch>
        </p:blipFill>
        <p:spPr>
          <a:xfrm>
            <a:off x="864037" y="3699748"/>
            <a:ext cx="12902327" cy="1381006"/>
          </a:xfrm>
          <a:prstGeom prst="rect">
            <a:avLst/>
          </a:prstGeom>
        </p:spPr>
      </p:pic>
      <p:pic>
        <p:nvPicPr>
          <p:cNvPr id="5" name="Image 1" descr="preencoded.png">    </p:cNvPr>
          <p:cNvPicPr>
            <a:picLocks noChangeAspect="1"/>
          </p:cNvPicPr>
          <p:nvPr/>
        </p:nvPicPr>
        <p:blipFill>
          <a:blip r:embed="rId2"/>
          <a:stretch>
            <a:fillRect/>
          </a:stretch>
        </p:blipFill>
        <p:spPr>
          <a:xfrm>
            <a:off x="864037" y="5420082"/>
            <a:ext cx="12902327" cy="138100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4037" y="2119670"/>
            <a:ext cx="3157418" cy="385763"/>
          </a:xfrm>
          <a:prstGeom prst="rect">
            <a:avLst/>
          </a:prstGeom>
          <a:noFill/>
          <a:ln/>
        </p:spPr>
        <p:txBody>
          <a:bodyPr wrap="none" lIns="0" tIns="0" rIns="0" bIns="0" rtlCol="0" anchor="t"/>
          <a:lstStyle/>
          <a:p>
            <a:pPr algn="l" indent="0" marL="0">
              <a:lnSpc>
                <a:spcPts val="3000"/>
              </a:lnSpc>
              <a:buNone/>
            </a:pPr>
            <a:r>
              <a:rPr lang="en-US" sz="2400" b="1" dirty="0">
                <a:solidFill>
                  <a:srgbClr val="000000"/>
                </a:solidFill>
                <a:latin typeface="Inter Bold" pitchFamily="34" charset="0"/>
                <a:ea typeface="Inter Bold" pitchFamily="34" charset="-122"/>
                <a:cs typeface="Inter Bold" pitchFamily="34" charset="-120"/>
              </a:rPr>
              <a:t>The project involves:</a:t>
            </a:r>
            <a:endParaRPr lang="en-US" sz="2400" dirty="0"/>
          </a:p>
        </p:txBody>
      </p:sp>
      <p:sp>
        <p:nvSpPr>
          <p:cNvPr id="3" name="Text 1"/>
          <p:cNvSpPr/>
          <p:nvPr/>
        </p:nvSpPr>
        <p:spPr>
          <a:xfrm>
            <a:off x="864037" y="2999184"/>
            <a:ext cx="12902327" cy="790099"/>
          </a:xfrm>
          <a:prstGeom prst="rect">
            <a:avLst/>
          </a:prstGeom>
          <a:noFill/>
          <a:ln/>
        </p:spPr>
        <p:txBody>
          <a:bodyPr wrap="square" lIns="0" tIns="0" rIns="0" bIns="0" rtlCol="0" anchor="t"/>
          <a:lstStyle/>
          <a:p>
            <a:pPr algn="l" marL="342900" indent="-342900">
              <a:lnSpc>
                <a:spcPts val="3100"/>
              </a:lnSpc>
              <a:buSzPct val="100000"/>
              <a:buChar char="•"/>
            </a:pPr>
            <a:r>
              <a:rPr lang="en-US" sz="1900" b="1" dirty="0">
                <a:solidFill>
                  <a:srgbClr val="272525"/>
                </a:solidFill>
                <a:latin typeface="Inter" pitchFamily="34" charset="0"/>
                <a:ea typeface="Inter" pitchFamily="34" charset="-122"/>
                <a:cs typeface="Inter" pitchFamily="34" charset="-120"/>
              </a:rPr>
              <a:t>1.</a:t>
            </a:r>
            <a:pPr algn="l" indent="0" marL="0">
              <a:lnSpc>
                <a:spcPts val="3100"/>
              </a:lnSpc>
              <a:buNone/>
            </a:pPr>
            <a:r>
              <a:rPr lang="en-US" sz="1900" dirty="0">
                <a:solidFill>
                  <a:srgbClr val="272525"/>
                </a:solidFill>
                <a:latin typeface="Inter" pitchFamily="34" charset="0"/>
                <a:ea typeface="Inter" pitchFamily="34" charset="-122"/>
                <a:cs typeface="Inter" pitchFamily="34" charset="-120"/>
              </a:rPr>
              <a:t> Cleaning and transforming messy, real-world data (like rate, cost_for_two, and phone) into a usable format for analysis.</a:t>
            </a:r>
            <a:endParaRPr lang="en-US" sz="1900" dirty="0"/>
          </a:p>
        </p:txBody>
      </p:sp>
      <p:sp>
        <p:nvSpPr>
          <p:cNvPr id="4" name="Text 2"/>
          <p:cNvSpPr/>
          <p:nvPr/>
        </p:nvSpPr>
        <p:spPr>
          <a:xfrm>
            <a:off x="864037" y="3875603"/>
            <a:ext cx="12902327" cy="395049"/>
          </a:xfrm>
          <a:prstGeom prst="rect">
            <a:avLst/>
          </a:prstGeom>
          <a:noFill/>
          <a:ln/>
        </p:spPr>
        <p:txBody>
          <a:bodyPr wrap="none" lIns="0" tIns="0" rIns="0" bIns="0" rtlCol="0" anchor="t"/>
          <a:lstStyle/>
          <a:p>
            <a:pPr algn="l" marL="342900" indent="-342900">
              <a:lnSpc>
                <a:spcPts val="3100"/>
              </a:lnSpc>
              <a:buSzPct val="100000"/>
              <a:buChar char="•"/>
            </a:pPr>
            <a:endParaRPr lang="en-US" sz="1900" dirty="0"/>
          </a:p>
        </p:txBody>
      </p:sp>
      <p:sp>
        <p:nvSpPr>
          <p:cNvPr id="5" name="Text 3"/>
          <p:cNvSpPr/>
          <p:nvPr/>
        </p:nvSpPr>
        <p:spPr>
          <a:xfrm>
            <a:off x="864037" y="4356973"/>
            <a:ext cx="12902327" cy="395049"/>
          </a:xfrm>
          <a:prstGeom prst="rect">
            <a:avLst/>
          </a:prstGeom>
          <a:noFill/>
          <a:ln/>
        </p:spPr>
        <p:txBody>
          <a:bodyPr wrap="none" lIns="0" tIns="0" rIns="0" bIns="0" rtlCol="0" anchor="t"/>
          <a:lstStyle/>
          <a:p>
            <a:pPr algn="l" lvl="1" marL="685800" indent="-342900">
              <a:lnSpc>
                <a:spcPts val="3100"/>
              </a:lnSpc>
              <a:buSzPct val="100000"/>
              <a:buFont typeface="+mj-lt"/>
              <a:buAutoNum type="arabicPeriod" startAt="1"/>
            </a:pPr>
            <a:r>
              <a:rPr lang="en-US" sz="1900" dirty="0">
                <a:solidFill>
                  <a:srgbClr val="272525"/>
                </a:solidFill>
                <a:latin typeface="Inter" pitchFamily="34" charset="0"/>
                <a:ea typeface="Inter" pitchFamily="34" charset="-122"/>
                <a:cs typeface="Inter" pitchFamily="34" charset="-120"/>
              </a:rPr>
              <a:t>Analyzing distributions and trends to understand restaurant density, popular types, and rating patterns.</a:t>
            </a:r>
            <a:endParaRPr lang="en-US" sz="1900" dirty="0"/>
          </a:p>
        </p:txBody>
      </p:sp>
      <p:sp>
        <p:nvSpPr>
          <p:cNvPr id="6" name="Text 4"/>
          <p:cNvSpPr/>
          <p:nvPr/>
        </p:nvSpPr>
        <p:spPr>
          <a:xfrm>
            <a:off x="864037" y="4838343"/>
            <a:ext cx="12902327" cy="395049"/>
          </a:xfrm>
          <a:prstGeom prst="rect">
            <a:avLst/>
          </a:prstGeom>
          <a:noFill/>
          <a:ln/>
        </p:spPr>
        <p:txBody>
          <a:bodyPr wrap="none" lIns="0" tIns="0" rIns="0" bIns="0" rtlCol="0" anchor="t"/>
          <a:lstStyle/>
          <a:p>
            <a:pPr algn="l" marL="342900" indent="-342900">
              <a:lnSpc>
                <a:spcPts val="3100"/>
              </a:lnSpc>
              <a:buSzPct val="100000"/>
              <a:buChar char="•"/>
            </a:pPr>
            <a:endParaRPr lang="en-US" sz="1900" dirty="0"/>
          </a:p>
        </p:txBody>
      </p:sp>
      <p:sp>
        <p:nvSpPr>
          <p:cNvPr id="7" name="Text 5"/>
          <p:cNvSpPr/>
          <p:nvPr/>
        </p:nvSpPr>
        <p:spPr>
          <a:xfrm>
            <a:off x="864037" y="5319713"/>
            <a:ext cx="12902327" cy="790099"/>
          </a:xfrm>
          <a:prstGeom prst="rect">
            <a:avLst/>
          </a:prstGeom>
          <a:noFill/>
          <a:ln/>
        </p:spPr>
        <p:txBody>
          <a:bodyPr wrap="square" lIns="0" tIns="0" rIns="0" bIns="0" rtlCol="0" anchor="t"/>
          <a:lstStyle/>
          <a:p>
            <a:pPr algn="l" lvl="1" marL="685800" indent="-342900">
              <a:lnSpc>
                <a:spcPts val="3100"/>
              </a:lnSpc>
              <a:buSzPct val="100000"/>
              <a:buFont typeface="+mj-lt"/>
              <a:buAutoNum type="arabicPeriod" startAt="1"/>
            </a:pPr>
            <a:r>
              <a:rPr lang="en-US" sz="1900" dirty="0">
                <a:solidFill>
                  <a:srgbClr val="272525"/>
                </a:solidFill>
                <a:latin typeface="Inter" pitchFamily="34" charset="0"/>
                <a:ea typeface="Inter" pitchFamily="34" charset="-122"/>
                <a:cs typeface="Inter" pitchFamily="34" charset="-120"/>
              </a:rPr>
              <a:t>Deriving insights on the relationships between variables like location, cost, online presence, and customer ratings to build a complete profile of the market."</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4037" y="3921919"/>
            <a:ext cx="3321725" cy="385763"/>
          </a:xfrm>
          <a:prstGeom prst="rect">
            <a:avLst/>
          </a:prstGeom>
          <a:noFill/>
          <a:ln/>
        </p:spPr>
        <p:txBody>
          <a:bodyPr wrap="none" lIns="0" tIns="0" rIns="0" bIns="0" rtlCol="0" anchor="t"/>
          <a:lstStyle/>
          <a:p>
            <a:pPr algn="l" indent="0" marL="0">
              <a:lnSpc>
                <a:spcPts val="3000"/>
              </a:lnSpc>
              <a:buNone/>
            </a:pPr>
            <a:r>
              <a:rPr lang="en-US" sz="2400" b="1" dirty="0">
                <a:solidFill>
                  <a:srgbClr val="000000"/>
                </a:solidFill>
                <a:latin typeface="Inter Bold" pitchFamily="34" charset="0"/>
                <a:ea typeface="Inter Bold" pitchFamily="34" charset="-122"/>
                <a:cs typeface="Inter Bold" pitchFamily="34" charset="-120"/>
              </a:rPr>
              <a:t>Analysis and insights: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72095" y="339447"/>
            <a:ext cx="8989338" cy="385763"/>
          </a:xfrm>
          <a:prstGeom prst="rect">
            <a:avLst/>
          </a:prstGeom>
          <a:noFill/>
          <a:ln/>
        </p:spPr>
        <p:txBody>
          <a:bodyPr wrap="none" lIns="0" tIns="0" rIns="0" bIns="0" rtlCol="0" anchor="t"/>
          <a:lstStyle/>
          <a:p>
            <a:pPr algn="l" indent="0" marL="0">
              <a:lnSpc>
                <a:spcPts val="3000"/>
              </a:lnSpc>
              <a:buNone/>
            </a:pPr>
            <a:r>
              <a:rPr lang="en-US" sz="2400" b="1" dirty="0">
                <a:solidFill>
                  <a:srgbClr val="000000"/>
                </a:solidFill>
                <a:latin typeface="Inter Bold" pitchFamily="34" charset="0"/>
                <a:ea typeface="Inter Bold" pitchFamily="34" charset="-122"/>
                <a:cs typeface="Inter Bold" pitchFamily="34" charset="-120"/>
              </a:rPr>
              <a:t>1. How Online Ordering Affects Restaurant Count and Rating</a:t>
            </a:r>
            <a:endParaRPr lang="en-US" sz="2400" dirty="0"/>
          </a:p>
        </p:txBody>
      </p:sp>
      <p:sp>
        <p:nvSpPr>
          <p:cNvPr id="3" name="Text 1"/>
          <p:cNvSpPr/>
          <p:nvPr/>
        </p:nvSpPr>
        <p:spPr>
          <a:xfrm>
            <a:off x="572095" y="972026"/>
            <a:ext cx="13486209" cy="395049"/>
          </a:xfrm>
          <a:prstGeom prst="rect">
            <a:avLst/>
          </a:prstGeom>
          <a:noFill/>
          <a:ln/>
        </p:spPr>
        <p:txBody>
          <a:bodyPr wrap="square" lIns="0" tIns="0" rIns="0" bIns="0" rtlCol="0" anchor="t"/>
          <a:lstStyle/>
          <a:p>
            <a:pPr algn="l" indent="0" marL="0">
              <a:lnSpc>
                <a:spcPts val="1550"/>
              </a:lnSpc>
              <a:buNone/>
            </a:pPr>
            <a:r>
              <a:rPr lang="en-US" sz="950" b="1" dirty="0">
                <a:solidFill>
                  <a:srgbClr val="272525"/>
                </a:solidFill>
                <a:latin typeface="Inter" pitchFamily="34" charset="0"/>
                <a:ea typeface="Inter" pitchFamily="34" charset="-122"/>
                <a:cs typeface="Inter" pitchFamily="34" charset="-120"/>
              </a:rPr>
              <a:t>Insight:</a:t>
            </a:r>
            <a:pPr algn="l" indent="0" marL="0">
              <a:lnSpc>
                <a:spcPts val="1550"/>
              </a:lnSpc>
              <a:buNone/>
            </a:pPr>
            <a:r>
              <a:rPr lang="en-US" sz="950" dirty="0">
                <a:solidFill>
                  <a:srgbClr val="272525"/>
                </a:solidFill>
                <a:latin typeface="Inter" pitchFamily="34" charset="0"/>
                <a:ea typeface="Inter" pitchFamily="34" charset="-122"/>
                <a:cs typeface="Inter" pitchFamily="34" charset="-120"/>
              </a:rPr>
              <a:t> You found that while </a:t>
            </a:r>
            <a:pPr algn="l" indent="0" marL="0">
              <a:lnSpc>
                <a:spcPts val="1550"/>
              </a:lnSpc>
              <a:buNone/>
            </a:pPr>
            <a:r>
              <a:rPr lang="en-US" sz="950" b="1" dirty="0">
                <a:solidFill>
                  <a:srgbClr val="272525"/>
                </a:solidFill>
                <a:latin typeface="Inter" pitchFamily="34" charset="0"/>
                <a:ea typeface="Inter" pitchFamily="34" charset="-122"/>
                <a:cs typeface="Inter" pitchFamily="34" charset="-120"/>
              </a:rPr>
              <a:t>30,444</a:t>
            </a:r>
            <a:pPr algn="l" indent="0" marL="0">
              <a:lnSpc>
                <a:spcPts val="1550"/>
              </a:lnSpc>
              <a:buNone/>
            </a:pPr>
            <a:r>
              <a:rPr lang="en-US" sz="950" dirty="0">
                <a:solidFill>
                  <a:srgbClr val="272525"/>
                </a:solidFill>
                <a:latin typeface="Inter" pitchFamily="34" charset="0"/>
                <a:ea typeface="Inter" pitchFamily="34" charset="-122"/>
                <a:cs typeface="Inter" pitchFamily="34" charset="-120"/>
              </a:rPr>
              <a:t> restaurants accept online orders compared to </a:t>
            </a:r>
            <a:pPr algn="l" indent="0" marL="0">
              <a:lnSpc>
                <a:spcPts val="1550"/>
              </a:lnSpc>
              <a:buNone/>
            </a:pPr>
            <a:r>
              <a:rPr lang="en-US" sz="950" b="1" dirty="0">
                <a:solidFill>
                  <a:srgbClr val="272525"/>
                </a:solidFill>
                <a:latin typeface="Inter" pitchFamily="34" charset="0"/>
                <a:ea typeface="Inter" pitchFamily="34" charset="-122"/>
                <a:cs typeface="Inter" pitchFamily="34" charset="-120"/>
              </a:rPr>
              <a:t>21,273</a:t>
            </a:r>
            <a:pPr algn="l" indent="0" marL="0">
              <a:lnSpc>
                <a:spcPts val="1550"/>
              </a:lnSpc>
              <a:buNone/>
            </a:pPr>
            <a:r>
              <a:rPr lang="en-US" sz="950" dirty="0">
                <a:solidFill>
                  <a:srgbClr val="272525"/>
                </a:solidFill>
                <a:latin typeface="Inter" pitchFamily="34" charset="0"/>
                <a:ea typeface="Inter" pitchFamily="34" charset="-122"/>
                <a:cs typeface="Inter" pitchFamily="34" charset="-120"/>
              </a:rPr>
              <a:t> that don't, the impact on the average rating is minimal. Restaurants with online ordering have a </a:t>
            </a:r>
            <a:pPr algn="l" indent="0" marL="0">
              <a:lnSpc>
                <a:spcPts val="1550"/>
              </a:lnSpc>
              <a:buNone/>
            </a:pPr>
            <a:r>
              <a:rPr lang="en-US" sz="950" i="1" dirty="0">
                <a:solidFill>
                  <a:srgbClr val="272525"/>
                </a:solidFill>
                <a:latin typeface="Inter" pitchFamily="34" charset="0"/>
                <a:ea typeface="Inter" pitchFamily="34" charset="-122"/>
                <a:cs typeface="Inter" pitchFamily="34" charset="-120"/>
              </a:rPr>
              <a:t>slightly</a:t>
            </a:r>
            <a:pPr algn="l" indent="0" marL="0">
              <a:lnSpc>
                <a:spcPts val="1550"/>
              </a:lnSpc>
              <a:buNone/>
            </a:pPr>
            <a:r>
              <a:rPr lang="en-US" sz="950" dirty="0">
                <a:solidFill>
                  <a:srgbClr val="272525"/>
                </a:solidFill>
                <a:latin typeface="Inter" pitchFamily="34" charset="0"/>
                <a:ea typeface="Inter" pitchFamily="34" charset="-122"/>
                <a:cs typeface="Inter" pitchFamily="34" charset="-120"/>
              </a:rPr>
              <a:t> higher average rating (3.72) than those without (3.66). This suggests that while online availability is a huge part of the business (more restaurants have it than don't), it isn't a significant factor in what customers perceive as the </a:t>
            </a:r>
            <a:pPr algn="l" indent="0" marL="0">
              <a:lnSpc>
                <a:spcPts val="1550"/>
              </a:lnSpc>
              <a:buNone/>
            </a:pPr>
            <a:r>
              <a:rPr lang="en-US" sz="950" i="1" dirty="0">
                <a:solidFill>
                  <a:srgbClr val="272525"/>
                </a:solidFill>
                <a:latin typeface="Inter" pitchFamily="34" charset="0"/>
                <a:ea typeface="Inter" pitchFamily="34" charset="-122"/>
                <a:cs typeface="Inter" pitchFamily="34" charset="-120"/>
              </a:rPr>
              <a:t>quality</a:t>
            </a:r>
            <a:pPr algn="l" indent="0" marL="0">
              <a:lnSpc>
                <a:spcPts val="1550"/>
              </a:lnSpc>
              <a:buNone/>
            </a:pPr>
            <a:r>
              <a:rPr lang="en-US" sz="950" dirty="0">
                <a:solidFill>
                  <a:srgbClr val="272525"/>
                </a:solidFill>
                <a:latin typeface="Inter" pitchFamily="34" charset="0"/>
                <a:ea typeface="Inter" pitchFamily="34" charset="-122"/>
                <a:cs typeface="Inter" pitchFamily="34" charset="-120"/>
              </a:rPr>
              <a:t> of the restaurant.</a:t>
            </a:r>
            <a:endParaRPr lang="en-US" sz="950" dirty="0"/>
          </a:p>
        </p:txBody>
      </p:sp>
      <p:pic>
        <p:nvPicPr>
          <p:cNvPr id="4" name="Image 0" descr="preencoded.png">    </p:cNvPr>
          <p:cNvPicPr>
            <a:picLocks noChangeAspect="1"/>
          </p:cNvPicPr>
          <p:nvPr/>
        </p:nvPicPr>
        <p:blipFill>
          <a:blip r:embed="rId1"/>
          <a:stretch>
            <a:fillRect/>
          </a:stretch>
        </p:blipFill>
        <p:spPr>
          <a:xfrm>
            <a:off x="572095" y="1505903"/>
            <a:ext cx="9738360" cy="5844540"/>
          </a:xfrm>
          <a:prstGeom prst="rect">
            <a:avLst/>
          </a:prstGeom>
        </p:spPr>
      </p:pic>
      <p:pic>
        <p:nvPicPr>
          <p:cNvPr id="5" name="Image 1" descr="preencoded.png">    </p:cNvPr>
          <p:cNvPicPr>
            <a:picLocks noChangeAspect="1"/>
          </p:cNvPicPr>
          <p:nvPr/>
        </p:nvPicPr>
        <p:blipFill>
          <a:blip r:embed="rId2"/>
          <a:stretch>
            <a:fillRect/>
          </a:stretch>
        </p:blipFill>
        <p:spPr>
          <a:xfrm>
            <a:off x="572095" y="7489269"/>
            <a:ext cx="13486209" cy="690324"/>
          </a:xfrm>
          <a:prstGeom prst="rect">
            <a:avLst/>
          </a:prstGeom>
        </p:spPr>
      </p:pic>
      <p:pic>
        <p:nvPicPr>
          <p:cNvPr id="6" name="Image 2" descr="preencoded.png">    </p:cNvPr>
          <p:cNvPicPr>
            <a:picLocks noChangeAspect="1"/>
          </p:cNvPicPr>
          <p:nvPr/>
        </p:nvPicPr>
        <p:blipFill>
          <a:blip r:embed="rId3"/>
          <a:stretch>
            <a:fillRect/>
          </a:stretch>
        </p:blipFill>
        <p:spPr>
          <a:xfrm>
            <a:off x="572095" y="8349258"/>
            <a:ext cx="13486209" cy="690324"/>
          </a:xfrm>
          <a:prstGeom prst="rect">
            <a:avLst/>
          </a:prstGeom>
        </p:spPr>
      </p:pic>
      <p:pic>
        <p:nvPicPr>
          <p:cNvPr id="7" name="Image 3" descr="preencoded.png">    </p:cNvPr>
          <p:cNvPicPr>
            <a:picLocks noChangeAspect="1"/>
          </p:cNvPicPr>
          <p:nvPr/>
        </p:nvPicPr>
        <p:blipFill>
          <a:blip r:embed="rId4"/>
          <a:stretch>
            <a:fillRect/>
          </a:stretch>
        </p:blipFill>
        <p:spPr>
          <a:xfrm>
            <a:off x="572095" y="9209246"/>
            <a:ext cx="13486209" cy="6903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07244" y="672346"/>
            <a:ext cx="9457015" cy="576620"/>
          </a:xfrm>
          <a:prstGeom prst="rect">
            <a:avLst/>
          </a:prstGeom>
          <a:noFill/>
          <a:ln/>
        </p:spPr>
        <p:txBody>
          <a:bodyPr wrap="none" lIns="0" tIns="0" rIns="0" bIns="0" rtlCol="0" anchor="t"/>
          <a:lstStyle/>
          <a:p>
            <a:pPr algn="l" indent="0" marL="0">
              <a:lnSpc>
                <a:spcPts val="4500"/>
              </a:lnSpc>
              <a:buNone/>
            </a:pPr>
            <a:r>
              <a:rPr lang="en-US" sz="3600" b="1" dirty="0">
                <a:solidFill>
                  <a:srgbClr val="000000"/>
                </a:solidFill>
                <a:latin typeface="Inter Bold" pitchFamily="34" charset="0"/>
                <a:ea typeface="Inter Bold" pitchFamily="34" charset="-122"/>
                <a:cs typeface="Inter Bold" pitchFamily="34" charset="-120"/>
              </a:rPr>
              <a:t>2. Top 10 Most Common Restaurant Types</a:t>
            </a:r>
            <a:endParaRPr lang="en-US" sz="3600" dirty="0"/>
          </a:p>
        </p:txBody>
      </p:sp>
      <p:sp>
        <p:nvSpPr>
          <p:cNvPr id="3" name="Text 1"/>
          <p:cNvSpPr/>
          <p:nvPr/>
        </p:nvSpPr>
        <p:spPr>
          <a:xfrm>
            <a:off x="807244" y="1710214"/>
            <a:ext cx="13015913" cy="1106924"/>
          </a:xfrm>
          <a:prstGeom prst="rect">
            <a:avLst/>
          </a:prstGeom>
          <a:noFill/>
          <a:ln/>
        </p:spPr>
        <p:txBody>
          <a:bodyPr wrap="square" lIns="0" tIns="0" rIns="0" bIns="0" rtlCol="0" anchor="t"/>
          <a:lstStyle/>
          <a:p>
            <a:pPr algn="l" indent="0" marL="0">
              <a:lnSpc>
                <a:spcPts val="2900"/>
              </a:lnSpc>
              <a:buNone/>
            </a:pPr>
            <a:r>
              <a:rPr lang="en-US" sz="1800" dirty="0">
                <a:solidFill>
                  <a:srgbClr val="272525"/>
                </a:solidFill>
                <a:latin typeface="Inter" pitchFamily="34" charset="0"/>
                <a:ea typeface="Inter" pitchFamily="34" charset="-122"/>
                <a:cs typeface="Inter" pitchFamily="34" charset="-120"/>
              </a:rPr>
              <a:t>Insight: The Bangalore food scene is overwhelmingly dominated by "Quick Bites" (19,132) and "Casual Dining" (10,330). These two categories alone represent a massive portion of all restaurants. This indicates a strong market demand for convenience, speed, and informal dining experiences over more formal or niche categories.</a:t>
            </a:r>
            <a:endParaRPr lang="en-US" sz="1800" dirty="0"/>
          </a:p>
        </p:txBody>
      </p:sp>
      <p:pic>
        <p:nvPicPr>
          <p:cNvPr id="4" name="Image 0" descr="preencoded.png">    </p:cNvPr>
          <p:cNvPicPr>
            <a:picLocks noChangeAspect="1"/>
          </p:cNvPicPr>
          <p:nvPr/>
        </p:nvPicPr>
        <p:blipFill>
          <a:blip r:embed="rId1"/>
          <a:stretch>
            <a:fillRect/>
          </a:stretch>
        </p:blipFill>
        <p:spPr>
          <a:xfrm>
            <a:off x="807244" y="3076575"/>
            <a:ext cx="9067800" cy="44805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4037" y="1140143"/>
            <a:ext cx="10802303" cy="617101"/>
          </a:xfrm>
          <a:prstGeom prst="rect">
            <a:avLst/>
          </a:prstGeom>
          <a:noFill/>
          <a:ln/>
        </p:spPr>
        <p:txBody>
          <a:bodyPr wrap="none" lIns="0" tIns="0" rIns="0" bIns="0" rtlCol="0" anchor="t"/>
          <a:lstStyle/>
          <a:p>
            <a:pPr algn="l" indent="0" marL="0">
              <a:lnSpc>
                <a:spcPts val="4850"/>
              </a:lnSpc>
              <a:buNone/>
            </a:pPr>
            <a:r>
              <a:rPr lang="en-US" sz="3850" b="1" dirty="0">
                <a:solidFill>
                  <a:srgbClr val="000000"/>
                </a:solidFill>
                <a:latin typeface="Inter Bold" pitchFamily="34" charset="0"/>
                <a:ea typeface="Inter Bold" pitchFamily="34" charset="-122"/>
                <a:cs typeface="Inter Bold" pitchFamily="34" charset="-120"/>
              </a:rPr>
              <a:t>3. Restaurant Chains with the Most Branches</a:t>
            </a:r>
            <a:endParaRPr lang="en-US" sz="3850" dirty="0"/>
          </a:p>
        </p:txBody>
      </p:sp>
      <p:sp>
        <p:nvSpPr>
          <p:cNvPr id="3" name="Text 1"/>
          <p:cNvSpPr/>
          <p:nvPr/>
        </p:nvSpPr>
        <p:spPr>
          <a:xfrm>
            <a:off x="864037" y="2250996"/>
            <a:ext cx="12902327" cy="1185148"/>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Insight: The market shows significant saturation from large chains. "Cafe Coffee Day" (96 branches) and "Onesta" (85 branches) lead the pack. This highlights the power of brand recognition and scalability, with cafe chains, pizza places, and bakeries being the most successful at expanding across the city.</a:t>
            </a:r>
            <a:endParaRPr lang="en-US" sz="1900" dirty="0"/>
          </a:p>
        </p:txBody>
      </p:sp>
      <p:pic>
        <p:nvPicPr>
          <p:cNvPr id="4" name="Image 0" descr="preencoded.png">    </p:cNvPr>
          <p:cNvPicPr>
            <a:picLocks noChangeAspect="1"/>
          </p:cNvPicPr>
          <p:nvPr/>
        </p:nvPicPr>
        <p:blipFill>
          <a:blip r:embed="rId1"/>
          <a:stretch>
            <a:fillRect/>
          </a:stretch>
        </p:blipFill>
        <p:spPr>
          <a:xfrm>
            <a:off x="864037" y="3713798"/>
            <a:ext cx="8900160" cy="33756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4037" y="716161"/>
            <a:ext cx="8716685" cy="617101"/>
          </a:xfrm>
          <a:prstGeom prst="rect">
            <a:avLst/>
          </a:prstGeom>
          <a:noFill/>
          <a:ln/>
        </p:spPr>
        <p:txBody>
          <a:bodyPr wrap="none" lIns="0" tIns="0" rIns="0" bIns="0" rtlCol="0" anchor="t"/>
          <a:lstStyle/>
          <a:p>
            <a:pPr algn="l" indent="0" marL="0">
              <a:lnSpc>
                <a:spcPts val="4850"/>
              </a:lnSpc>
              <a:buNone/>
            </a:pPr>
            <a:r>
              <a:rPr lang="en-US" sz="3850" b="1" dirty="0">
                <a:solidFill>
                  <a:srgbClr val="000000"/>
                </a:solidFill>
                <a:latin typeface="Inter Bold" pitchFamily="34" charset="0"/>
                <a:ea typeface="Inter Bold" pitchFamily="34" charset="-122"/>
                <a:cs typeface="Inter Bold" pitchFamily="34" charset="-120"/>
              </a:rPr>
              <a:t>4. Distribution of Restaurant Ratings</a:t>
            </a:r>
            <a:endParaRPr lang="en-US" sz="3850" dirty="0"/>
          </a:p>
        </p:txBody>
      </p:sp>
      <p:sp>
        <p:nvSpPr>
          <p:cNvPr id="3" name="Text 1"/>
          <p:cNvSpPr/>
          <p:nvPr/>
        </p:nvSpPr>
        <p:spPr>
          <a:xfrm>
            <a:off x="864037" y="1827014"/>
            <a:ext cx="12902327" cy="1580198"/>
          </a:xfrm>
          <a:prstGeom prst="rect">
            <a:avLst/>
          </a:prstGeom>
          <a:noFill/>
          <a:ln/>
        </p:spPr>
        <p:txBody>
          <a:bodyPr wrap="square" lIns="0" tIns="0" rIns="0" bIns="0" rtlCol="0" anchor="t"/>
          <a:lstStyle/>
          <a:p>
            <a:pPr algn="l" indent="0" marL="0">
              <a:lnSpc>
                <a:spcPts val="3100"/>
              </a:lnSpc>
              <a:buNone/>
            </a:pPr>
            <a:r>
              <a:rPr lang="en-US" sz="1900" b="1" dirty="0">
                <a:solidFill>
                  <a:srgbClr val="272525"/>
                </a:solidFill>
                <a:latin typeface="Inter" pitchFamily="34" charset="0"/>
                <a:ea typeface="Inter" pitchFamily="34" charset="-122"/>
                <a:cs typeface="Inter" pitchFamily="34" charset="-120"/>
              </a:rPr>
              <a:t>Insight: The vast majority of restaurants in Bangalore fall into the 3.0 to 4.0 "Average" rating bracket, accounting for 30,192 establishments. A much smaller, but still significant, group of 9,216 restaurants achieve a "High" rating (above 4.0). This shows a classic distribution where most businesses are considered "average," and achieving a high rating is considerably more difficult.</a:t>
            </a:r>
            <a:endParaRPr lang="en-US" sz="1900" dirty="0"/>
          </a:p>
        </p:txBody>
      </p:sp>
      <p:pic>
        <p:nvPicPr>
          <p:cNvPr id="4" name="Image 0" descr="preencoded.png">    </p:cNvPr>
          <p:cNvPicPr>
            <a:picLocks noChangeAspect="1"/>
          </p:cNvPicPr>
          <p:nvPr/>
        </p:nvPicPr>
        <p:blipFill>
          <a:blip r:embed="rId1"/>
          <a:stretch>
            <a:fillRect/>
          </a:stretch>
        </p:blipFill>
        <p:spPr>
          <a:xfrm>
            <a:off x="864037" y="3684865"/>
            <a:ext cx="3406140" cy="205740"/>
          </a:xfrm>
          <a:prstGeom prst="rect">
            <a:avLst/>
          </a:prstGeom>
        </p:spPr>
      </p:pic>
      <p:pic>
        <p:nvPicPr>
          <p:cNvPr id="5" name="Image 1" descr="preencoded.png">    </p:cNvPr>
          <p:cNvPicPr>
            <a:picLocks noChangeAspect="1"/>
          </p:cNvPicPr>
          <p:nvPr/>
        </p:nvPicPr>
        <p:blipFill>
          <a:blip r:embed="rId2"/>
          <a:stretch>
            <a:fillRect/>
          </a:stretch>
        </p:blipFill>
        <p:spPr>
          <a:xfrm>
            <a:off x="864037" y="4168259"/>
            <a:ext cx="4632960" cy="33451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2025-11-12T08:19:40Z</dcterms:created>
  <dcterms:modified xsi:type="dcterms:W3CDTF">2025-11-12T08:19:40Z</dcterms:modified>
</cp:coreProperties>
</file>